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94FE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654710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Suricatoos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223760" y="654710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ACME Corp · CONFIDENCIAL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94FE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4FE3"/>
                </a:solidFill>
              </a:rPr>
              <a:t>SURICATOOS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678"/>
                </a:solidFill>
              </a:rPr>
              <a:t>RELATÓRIO DE PENTEST · PTES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Avaliação de Segurança Ofensiva — Aplicação Web e Active Directory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Preparado por Suricatoos para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41605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F767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AC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4160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</a:rPr>
              <a:t>ACME Corp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5120640"/>
            <a:ext cx="2011680" cy="365760"/>
          </a:xfrm>
          <a:prstGeom prst="rect">
            <a:avLst/>
          </a:prstGeom>
          <a:noFill/>
          <a:ln w="12700">
            <a:solidFill>
              <a:srgbClr val="FF767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7678"/>
                </a:solidFill>
              </a:rPr>
              <a:t>CONFIDENCIAL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Período: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02/06/2026 – 06/06/2026    </a:t>
            </a:r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Versão: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1.0    </a:t>
            </a:r>
            <a:pPr indent="0" marL="0">
              <a:buNone/>
            </a:pPr>
            <a:r>
              <a:rPr lang="en-US" sz="1100" b="1" dirty="0">
                <a:solidFill>
                  <a:srgbClr val="CBD5E1"/>
                </a:solidFill>
              </a:rPr>
              <a:t>Risco: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82/100 (CRÍTICO)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FE3"/>
                </a:solidFill>
              </a:rPr>
              <a:t>SUMÁRIO EXECUTIVO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Sumário Executivo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A Suricatoos conduziu uma avaliação ofensiva autônoma, orientada pela metodologia PTES, contra a superfície web e a infraestrutura Active Directory autorizadas da ACME Corp.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O engajamento identificou uma postura de risco ALTA: foi possível encadear vulnerabilidades de aplicação até o comprometimento de uma conta privilegiada do domínio de teste, demonstrando um caminho plausível para exposição de toda a base de clientes e controle administrativo do ambiente.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34155"/>
                </a:solidFill>
              </a:rPr>
              <a:t>Os achados mais graves — bypass de autenticação por JWT inseguro e injeção de SQL — são exploráveis remotamente, sem autenticação prévia, e devem ser tratados de forma imediata. A seção de recomendações apresenta um roteiro de remediação priorizado por risco de negócio.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371600"/>
            <a:ext cx="2743200" cy="203375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3291840"/>
            <a:ext cx="1737360" cy="1737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566928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10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achados      </a:t>
            </a:r>
            <a:pPr indent="0" marL="0">
              <a:buNone/>
            </a:pPr>
            <a:r>
              <a:rPr lang="en-US" sz="2600" b="1" dirty="0">
                <a:solidFill>
                  <a:srgbClr val="B91C1C"/>
                </a:solidFill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críticos      </a:t>
            </a:r>
            <a:pPr indent="0" marL="0">
              <a:buNone/>
            </a:pPr>
            <a:r>
              <a:rPr lang="en-US" sz="2600" b="1" dirty="0">
                <a:solidFill>
                  <a:srgbClr val="059669"/>
                </a:solidFill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quick wins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FE3"/>
                </a:solidFill>
              </a:rPr>
              <a:t>NARRATIVA DO ATAQUE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Narrativa do Ataque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10972800" cy="1139483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9748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194560"/>
                <a:gridCol w="859536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Reconhecimento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 partir de fontes públicas e enumeração autorizada, mapeamos a loja, a API de pedidos e o acesso remoto (VPN), além de um caminho para a rede interna. A superfície exposta já indicava controles de autenticação frágeis.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Ponto de entrada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 API aceitava tokens JWT sem assinatura (alg=none). Forjamos um token de administrador e obtivemos acesso privilegiado à API — sem precisar de credenciais válidas.  [F-01]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Acesso aos dados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 busca da loja era vulnerável a SQL Injection, permitindo leitura do banco. Em paralelo, uma falha de autorização (IDOR) expunha pedidos e dados pessoais de outros clientes.  [F-02, F-03]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Pivô para a rede interna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O acesso remoto via VPN não exigia segundo fator. Com credenciais obtidas, entramos na rede interna, atingindo o domínio Active Directory de teste.  [F-07]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Escalada de privilégios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Uma conta de serviço com senha fraca permitiu Kerberoasting: extraímos e quebramos o hash offline, assumindo uma conta privilegiada do domínio.  [F-04]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Impacto demonstrado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Encadeando os achados, demonstramos um caminho plausível para expor toda a base de clientes e assumir controle administrativo do ambiente — tudo com provas de conceito não destrutivas, dentro do escopo.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FE3"/>
                </a:solidFill>
              </a:rPr>
              <a:t>VISÃO GERAL DE RISCO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Visão Geral de Risco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Matriz de risco (probabilidade × impacto)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4023360" cy="4023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5040" y="1371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Achados por categoria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737360"/>
            <a:ext cx="4572000" cy="2231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35040" y="420624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● Crítico
</a:t>
            </a:r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● Alto
</a:t>
            </a:r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● Médio
</a:t>
            </a:r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● Baixo
</a:t>
            </a:r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● Info
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FE3"/>
                </a:solidFill>
              </a:rPr>
              <a:t>METODOLOGIA (PTES)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Metodologia (PTES)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1064240" cy="694227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124712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743200"/>
                <a:gridCol w="8046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Interações pré-engajamento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Definição de escopo, janelas e regras de engajamento (RoE).  ·  Acordo de confidencialidade e canais de comunicação de emergência.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Coleta de inteligência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OSINT e enumeração passiva de subdomínios (CT logs, DNS).  ·  Fingerprinting de tecnologias, versões e superfícies expostas.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Modelagem de ameaças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Mapeamento de ativos críticos e fluxos de dados (PII, pagamentos).  ·  Identificação de atores e cenários de ataque prioritários.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Análise de vulnerabilidades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Análise de autenticação, sessão e autorização (IDOR/BOLA).  ·  Testes de injeção, configuração de TLS e cabeçalhos de segurança.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Exploração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Validação prática (PoC) dos achados de aplicação e rede.  ·  Bypass de autenticação, extração inferencial de dados e XSS armazenado.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Pós-exploração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Movimentação lateral e abuso de Kerberos no domínio de teste.  ·  Demonstração de impacto encadeado, sem ações destrutivas.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Relatório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Consolidação de evidências, classificação de risco e recomendações.  ·  Roteiro de remediação priorizado e reteste sugerido.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FE3"/>
                </a:solidFill>
              </a:rPr>
              <a:t>ACHADOS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Achados Detalhados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669280"/>
                <a:gridCol w="1463040"/>
                <a:gridCol w="914400"/>
                <a:gridCol w="2286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Achado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Severidade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CVSS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Categoria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F-02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SQL Injection (boolean/time-based) em /buscar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</a:rPr>
                        <a:t>Crítico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Aplicação Web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F-01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Bypass de autenticação via JWT com alg=none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</a:rPr>
                        <a:t>Crítico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Aplicação Web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F-03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IDOR/BOLA em /api/v1/orders/{id}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A580C"/>
                          </a:solidFill>
                        </a:rPr>
                        <a:t>Alto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API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F-04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Kerberoasting de conta de serviço (svc_sql)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A580C"/>
                          </a:solidFill>
                        </a:rPr>
                        <a:t>Alto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Active Directory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F-07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Ausência de MFA no acesso VPN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</a:rPr>
                        <a:t>Médio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F-05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Cross-Site Scripting armazenado em avaliações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</a:rPr>
                        <a:t>Médio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Aplicação Web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F-06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SMB signing desabilitado (NTLM relay)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</a:rPr>
                        <a:t>Médio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F-08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Cabeçalhos de segurança e configuração TLS fracos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</a:rPr>
                        <a:t>Baixo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Configuração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F-09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Divulgação de informação em mensagens de erro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563EB"/>
                          </a:solidFill>
                        </a:rPr>
                        <a:t>Baixo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Aplicação Web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F-10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Divulgação de versões de software (banners)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Info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Configuração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FE3"/>
                </a:solidFill>
              </a:rPr>
              <a:t>ACHADOS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Achado em detalhe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48463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F-02 — SQL Injection (boolean/time-based) em /buscar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1508760"/>
            <a:ext cx="777240" cy="27432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CRÍTICO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CVSS 9.4 · CWE-89 · Aplicação Web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251460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94FE3"/>
                </a:solidFill>
              </a:rPr>
              <a:t>Descrição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O parâmetro "q" do endpoint de busca é concatenado diretamente na consulta SQL. A extração inferencial de dados foi confirmada (boolean e time-based), permitindo leitura arbitrária do banco.
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94FE3"/>
                </a:solidFill>
              </a:rPr>
              <a:t>Impacto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Exfiltração potencial de toda a base de dados (clientes, pedidos, hashes de senha).
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94FE3"/>
                </a:solidFill>
              </a:rPr>
              <a:t>Remediação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Usar consultas parametrizadas/prepared statements e ORM seguro; adicionar WAF como camada defensiva e princípio do menor privilégio no usuário de banco.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371600"/>
            <a:ext cx="73152" cy="48463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508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F-01 — Bypass de autenticação via JWT com alg=none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0" y="1508760"/>
            <a:ext cx="777240" cy="274320"/>
          </a:xfrm>
          <a:prstGeom prst="rect">
            <a:avLst/>
          </a:prstGeom>
          <a:solidFill>
            <a:srgbClr val="B91C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CRÍTICO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4652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CVSS 9.1 · CWE-347 · Aplicação Web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46520" y="251460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94FE3"/>
                </a:solidFill>
              </a:rPr>
              <a:t>Descrição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A API aceita tokens JWT com o cabeçalho {"alg":"none"}, ignorando a verificação de assinatura. Um atacante pode forjar tokens arbitrários, assumindo qualquer identidade e elevando privilégios para administrador.
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94FE3"/>
                </a:solidFill>
              </a:rPr>
              <a:t>Impacto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Acesso administrativo completo à API, incluindo dados de todos os clientes e operações privilegiadas.
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94FE3"/>
                </a:solidFill>
              </a:rPr>
              <a:t>Remediação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Fixar o algoritmo esperado (ex.: RS256) no verificador e rejeitar explicitamente "none"; rotacionar segredos e invalidar sessões emitidas.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FE3"/>
                </a:solidFill>
              </a:rPr>
              <a:t>ACHADOS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Achado em detalhe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48463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08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F-03 — IDOR/BOLA em /api/v1/orders/{id}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1508760"/>
            <a:ext cx="777240" cy="27432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ALTO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CVSS 8.1 · CWE-639 · API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251460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94FE3"/>
                </a:solidFill>
              </a:rPr>
              <a:t>Descrição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Um usuário autenticado lê pedidos de outros clientes apenas alterando o identificador, sem verificação de propriedade no servidor (Broken Object Level Authorization).
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94FE3"/>
                </a:solidFill>
              </a:rPr>
              <a:t>Impacto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Exposição de PII e histórico de compras de toda a base de clientes.
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94FE3"/>
                </a:solidFill>
              </a:rPr>
              <a:t>Remediação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Validar a propriedade do objeto no servidor (order.customer_id == session.user_id) e usar referências indiretas por usuário; incluir testes de autorização por objeto.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371600"/>
            <a:ext cx="73152" cy="48463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508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F-04 — Kerberoasting de conta de serviço (svc_sql)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0" y="1508760"/>
            <a:ext cx="777240" cy="274320"/>
          </a:xfrm>
          <a:prstGeom prst="rect">
            <a:avLst/>
          </a:prstGeom>
          <a:solidFill>
            <a:srgbClr val="EA580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ALTO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46520" y="2148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CVSS 8.0 · MITRE T1558.003 · Active Directory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46520" y="251460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94FE3"/>
                </a:solidFill>
              </a:rPr>
              <a:t>Descrição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A conta de serviço svc_sql possui SPN e senha fraca, permitindo solicitar um ticket TGS e quebrar o hash offline, resultando em credenciais privilegiadas no domínio.
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94FE3"/>
                </a:solidFill>
              </a:rPr>
              <a:t>Impacto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Movimentação lateral e elevação para conta privilegiada do domínio de teste.
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194FE3"/>
                </a:solidFill>
              </a:rPr>
              <a:t>Remediação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34155"/>
                </a:solidFill>
              </a:rPr>
              <a:t>Adotar gMSA ou senhas longas/aleatórias para contas de serviço; monitorar solicitações TGS-REQ anômalas e remover SPNs desnecessários.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FE3"/>
                </a:solidFill>
              </a:rPr>
              <a:t>PLANO DE 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Plano de Ação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Roteiro de remediação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11064240" cy="11915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200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Quick wins (impacto × esforço)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520440"/>
            <a:ext cx="2743200" cy="2743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7920" y="3200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Tempo de correção por achado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520440"/>
            <a:ext cx="2926080" cy="18456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4FE3"/>
                </a:solidFill>
              </a:rPr>
              <a:t>PLANO DE 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Itens de correção priorizados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47120" cy="0"/>
          </a:xfrm>
          <a:prstGeom prst="line">
            <a:avLst/>
          </a:prstGeom>
          <a:noFill/>
          <a:ln w="25400">
            <a:solidFill>
              <a:srgbClr val="194FE3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40080"/>
                <a:gridCol w="6400800"/>
                <a:gridCol w="1005840"/>
                <a:gridCol w="73152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Janela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Ação de correção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Esforço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Prazo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QW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FE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Imediata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Fixar o algoritmo esperado (ex.: RS256) no verificador e rejeitar explicitamente "none"; rotacionar segredos e invalidar sessões emitidas.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Baixo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Imediata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F-02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Usar consultas parametrizadas/prepared statements e ORM seguro; adicionar WAF como camada defensiva e princípio do menor privilégio no usuário de banco.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Médio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Imediata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F-03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Validar a propriedade do objeto no servidor (order.customer_id == session.user_id) e usar referências indiretas por usuário; incluir testes de autorização por objeto.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Baixo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Curto prazo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Adotar gMSA ou senhas longas/aleatórias para contas de serviço; monitorar solicitações TGS-REQ anômalas e remover SPNs desnecessários.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Alto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Curto prazo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F-05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Codificação de saída por contexto, sanitização no servidor e Content-Security-Policy estrita.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Médio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Curto prazo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Habilitar/forçar SMB signing via GPO e desabilitar NTLM onde possível.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Médio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Curto prazo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Exigir MFA resistente a phishing (FIDO2/WebAuthn) no acesso remoto.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Médio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Médio prazo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Adicionar HSTS, CSP e cabeçalhos defensivos; desabilitar suites TLS legadas.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Baixo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Médio prazo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Padronizar respostas de erro genéricas e registrar detalhes apenas no servidor.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Baixo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Médio prazo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Ocultar/normalizar banners e cabeçalhos de versão.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Baixo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Suricatoos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Suricatoos</dc:creator>
  <cp:lastModifiedBy>Suricatoos</cp:lastModifiedBy>
  <cp:revision>1</cp:revision>
  <dcterms:created xsi:type="dcterms:W3CDTF">2026-06-12T19:25:12Z</dcterms:created>
  <dcterms:modified xsi:type="dcterms:W3CDTF">2026-06-12T19:25:12Z</dcterms:modified>
</cp:coreProperties>
</file>